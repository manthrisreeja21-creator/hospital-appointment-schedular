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</p:sldIdLst>
  <p:sldSz cx="12192000" cy="6858000"/>
  <p:notesSz cx="6858000" cy="12192000"/>
  <p:embeddedFontLst>
    <p:embeddedFont>
      <p:font typeface="Arial Rounded MT Bold" panose="020F0704030504030204" pitchFamily="34" charset="0"/>
      <p:regular r:id="rId10"/>
    </p:embeddedFont>
    <p:embeddedFont>
      <p:font typeface="Bahnschrift SemiLight" panose="020B0502040204020203" pitchFamily="34" charset="0"/>
      <p:regular r:id="rId11"/>
    </p:embeddedFont>
    <p:embeddedFont>
      <p:font typeface="Heebo Bold" panose="020B0604020202020204" charset="-79"/>
      <p:regular r:id="rId12"/>
    </p:embeddedFont>
    <p:embeddedFont>
      <p:font typeface="Heebo Light" pitchFamily="2" charset="-79"/>
      <p:regular r:id="rId13"/>
    </p:embeddedFont>
    <p:embeddedFont>
      <p:font typeface="Heebo SemiBold" panose="020B0604020202020204" charset="-79"/>
      <p:regular r:id="rId14"/>
    </p:embeddedFont>
    <p:embeddedFont>
      <p:font typeface="Inter Tight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14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9086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BEF9E-E8C6-27D5-D856-0A8552580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70AF18-710B-4C2F-60D1-A7A9007E7C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8426D-3620-6F70-8057-B62C6CD080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5AA76-0C43-A308-62F0-7727B70E0B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266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30672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3141067"/>
            <a:ext cx="10972526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37921" y="2627674"/>
            <a:ext cx="9175342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HOSPITAL APPOINTMENT SCHEDULING</a:t>
            </a:r>
          </a:p>
          <a:p>
            <a:pPr marL="0" indent="0" algn="l">
              <a:lnSpc>
                <a:spcPct val="112000"/>
              </a:lnSpc>
              <a:buNone/>
            </a:pPr>
            <a:endParaRPr lang="en-US" sz="1400" dirty="0">
              <a:solidFill>
                <a:srgbClr val="000000"/>
              </a:solidFill>
              <a:latin typeface="Heebo Light" pitchFamily="34" charset="0"/>
              <a:ea typeface="Heebo Light" pitchFamily="34" charset="-122"/>
              <a:cs typeface="Heebo Light" pitchFamily="34" charset="-120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                     Using Sorting • Priority Queue • Greedy Strategy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876" y="4470102"/>
            <a:ext cx="266693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8179" y="4898727"/>
            <a:ext cx="2171646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937921" y="930671"/>
            <a:ext cx="6108547" cy="1036151"/>
          </a:xfrm>
          <a:prstGeom prst="rect">
            <a:avLst/>
          </a:prstGeom>
          <a:solidFill>
            <a:srgbClr val="E8F0F4"/>
          </a:solidFill>
          <a:ln/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          </a:t>
            </a:r>
          </a:p>
          <a:p>
            <a:r>
              <a:rPr lang="en-US" dirty="0">
                <a:latin typeface="Arial Rounded MT Bold" panose="020F070403050403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                       </a:t>
            </a:r>
            <a:r>
              <a:rPr lang="en-US" sz="2400" dirty="0">
                <a:latin typeface="Arial Rounded MT Bold" panose="020F070403050403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ALGOFORGE</a:t>
            </a:r>
          </a:p>
        </p:txBody>
      </p:sp>
      <p:sp>
        <p:nvSpPr>
          <p:cNvPr id="17" name="Text 12"/>
          <p:cNvSpPr/>
          <p:nvPr/>
        </p:nvSpPr>
        <p:spPr>
          <a:xfrm>
            <a:off x="4235570" y="4062775"/>
            <a:ext cx="4336716" cy="122449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Bahnschrift SemiLight" panose="020B0502040204020203" pitchFamily="34" charset="0"/>
                <a:ea typeface="Inter Tight" pitchFamily="34" charset="-122"/>
                <a:cs typeface="Heebo Light" pitchFamily="2" charset="-79"/>
              </a:rPr>
              <a:t>TEAM MEMBERS:         Rupa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Bahnschrift SemiLight" panose="020B0502040204020203" pitchFamily="34" charset="0"/>
                <a:ea typeface="Inter Tight" pitchFamily="34" charset="-122"/>
                <a:cs typeface="Heebo Light" pitchFamily="2" charset="-79"/>
              </a:rPr>
              <a:t>                                     Ruthika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Bahnschrift SemiLight" panose="020B0502040204020203" pitchFamily="34" charset="0"/>
                <a:ea typeface="Inter Tight" pitchFamily="34" charset="-122"/>
                <a:cs typeface="Heebo Light" pitchFamily="2" charset="-79"/>
              </a:rPr>
              <a:t>                                     Gnaneshwari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Bahnschrift SemiLight" panose="020B0502040204020203" pitchFamily="34" charset="0"/>
                <a:ea typeface="Inter Tight" pitchFamily="34" charset="-122"/>
                <a:cs typeface="Heebo Light" pitchFamily="2" charset="-79"/>
              </a:rPr>
              <a:t>                                     Sreeja</a:t>
            </a:r>
            <a:endParaRPr lang="en-US" sz="1800" dirty="0">
              <a:latin typeface="Bahnschrift SemiLight" panose="020B0502040204020203" pitchFamily="34" charset="0"/>
              <a:cs typeface="Heebo Light" pitchFamily="2" charset="-79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9181870" y="4898727"/>
            <a:ext cx="2171646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09585" y="5687318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endParaRPr lang="en-US" sz="1400" dirty="0"/>
          </a:p>
        </p:txBody>
      </p:sp>
      <p:pic>
        <p:nvPicPr>
          <p:cNvPr id="25" name="Picture 24" descr="Malla Reddy Vishwavidyapeeth | Hyderabad">
            <a:extLst>
              <a:ext uri="{FF2B5EF4-FFF2-40B4-BE49-F238E27FC236}">
                <a16:creationId xmlns:a16="http://schemas.microsoft.com/office/drawing/2014/main" id="{B5EE56A0-2ABB-BE6D-6AF4-173D15AFD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597681"/>
            <a:ext cx="1828800" cy="18288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661F10F-7AF5-0F23-F257-6AF1980E59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420" y="597681"/>
            <a:ext cx="1514686" cy="1514686"/>
          </a:xfrm>
          <a:prstGeom prst="rect">
            <a:avLst/>
          </a:prstGeom>
        </p:spPr>
      </p:pic>
      <p:pic>
        <p:nvPicPr>
          <p:cNvPr id="30" name="Picture 29" descr="White Screen Online - Fullscreen White Screen Test &amp; Bright ...">
            <a:extLst>
              <a:ext uri="{FF2B5EF4-FFF2-40B4-BE49-F238E27FC236}">
                <a16:creationId xmlns:a16="http://schemas.microsoft.com/office/drawing/2014/main" id="{026FC661-53AE-28EE-6185-1002DC5B9E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7831" y="6351821"/>
            <a:ext cx="1135431" cy="4672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585" y="543464"/>
            <a:ext cx="10972526" cy="999486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Why Hospital Appointment Scheduling Is Difficult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565176"/>
            <a:ext cx="2072628" cy="2019102"/>
          </a:xfrm>
          <a:prstGeom prst="rect">
            <a:avLst/>
          </a:prstGeom>
          <a:solidFill>
            <a:srgbClr val="E8F0F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1793776"/>
            <a:ext cx="355591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2171601"/>
            <a:ext cx="1615439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Patient priority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38179" y="2601416"/>
            <a:ext cx="1615439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Emergency and routine cases need different handling.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834510" y="1565176"/>
            <a:ext cx="2072628" cy="2019102"/>
          </a:xfrm>
          <a:prstGeom prst="rect">
            <a:avLst/>
          </a:prstGeom>
          <a:solidFill>
            <a:srgbClr val="E8F0F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104" y="1793776"/>
            <a:ext cx="355591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63104" y="2171601"/>
            <a:ext cx="1615439" cy="662781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Doctor availability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063104" y="2875657"/>
            <a:ext cx="1615439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Schedules are limited or changing.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059434" y="1565176"/>
            <a:ext cx="2072727" cy="2019102"/>
          </a:xfrm>
          <a:prstGeom prst="rect">
            <a:avLst/>
          </a:prstGeom>
          <a:solidFill>
            <a:srgbClr val="E8F0F4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8029" y="1793776"/>
            <a:ext cx="355591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88029" y="2171601"/>
            <a:ext cx="1615538" cy="662781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Time constraints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5288029" y="2875657"/>
            <a:ext cx="1615538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Only certain slots are feasible.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284458" y="1565176"/>
            <a:ext cx="2072628" cy="2019102"/>
          </a:xfrm>
          <a:prstGeom prst="rect">
            <a:avLst/>
          </a:prstGeom>
          <a:solidFill>
            <a:srgbClr val="E8F0F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3053" y="1793776"/>
            <a:ext cx="355591" cy="355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13053" y="2171601"/>
            <a:ext cx="1615439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Cancellations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7513053" y="2601416"/>
            <a:ext cx="1615439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Disruptions require reassignment.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9509383" y="1565176"/>
            <a:ext cx="2072727" cy="2019102"/>
          </a:xfrm>
          <a:prstGeom prst="rect">
            <a:avLst/>
          </a:prstGeom>
          <a:solidFill>
            <a:srgbClr val="E8F0F4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977" y="1793776"/>
            <a:ext cx="355591" cy="355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737977" y="2171601"/>
            <a:ext cx="1615538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Waiting time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9737977" y="2601416"/>
            <a:ext cx="1615538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Poor scheduling creates avoidable delays.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09584" y="3812877"/>
            <a:ext cx="2628834" cy="1099741"/>
          </a:xfrm>
          <a:prstGeom prst="rect">
            <a:avLst/>
          </a:prstGeom>
          <a:solidFill>
            <a:srgbClr val="FFF0E6"/>
          </a:solidFill>
          <a:ln/>
        </p:spPr>
      </p:sp>
      <p:sp>
        <p:nvSpPr>
          <p:cNvPr id="25" name="Shape 18"/>
          <p:cNvSpPr/>
          <p:nvPr/>
        </p:nvSpPr>
        <p:spPr>
          <a:xfrm>
            <a:off x="838179" y="4041477"/>
            <a:ext cx="311142" cy="311150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892351" y="4108152"/>
            <a:ext cx="8122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838179" y="4352627"/>
            <a:ext cx="2171646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Slot Conflict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3390815" y="3812877"/>
            <a:ext cx="2628834" cy="1099741"/>
          </a:xfrm>
          <a:prstGeom prst="rect">
            <a:avLst/>
          </a:prstGeom>
          <a:solidFill>
            <a:srgbClr val="FFF0E6"/>
          </a:solidFill>
          <a:ln/>
        </p:spPr>
      </p:sp>
      <p:sp>
        <p:nvSpPr>
          <p:cNvPr id="29" name="Shape 22"/>
          <p:cNvSpPr/>
          <p:nvPr/>
        </p:nvSpPr>
        <p:spPr>
          <a:xfrm>
            <a:off x="3619409" y="4041477"/>
            <a:ext cx="311142" cy="311150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3673582" y="4108152"/>
            <a:ext cx="8122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3619409" y="4352627"/>
            <a:ext cx="2171646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Delay</a:t>
            </a:r>
            <a:endParaRPr lang="en-US" sz="1800" dirty="0"/>
          </a:p>
        </p:txBody>
      </p:sp>
      <p:sp>
        <p:nvSpPr>
          <p:cNvPr id="32" name="Shape 25"/>
          <p:cNvSpPr/>
          <p:nvPr/>
        </p:nvSpPr>
        <p:spPr>
          <a:xfrm>
            <a:off x="6172046" y="3812877"/>
            <a:ext cx="2628834" cy="1099741"/>
          </a:xfrm>
          <a:prstGeom prst="rect">
            <a:avLst/>
          </a:prstGeom>
          <a:solidFill>
            <a:srgbClr val="FFF0E6"/>
          </a:solidFill>
          <a:ln/>
        </p:spPr>
      </p:sp>
      <p:sp>
        <p:nvSpPr>
          <p:cNvPr id="33" name="Shape 26"/>
          <p:cNvSpPr/>
          <p:nvPr/>
        </p:nvSpPr>
        <p:spPr>
          <a:xfrm>
            <a:off x="6400640" y="4041477"/>
            <a:ext cx="311142" cy="311150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454812" y="4108152"/>
            <a:ext cx="8122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6400640" y="4352627"/>
            <a:ext cx="2171646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Waiting</a:t>
            </a:r>
            <a:endParaRPr lang="en-US" sz="1800" dirty="0"/>
          </a:p>
        </p:txBody>
      </p:sp>
      <p:sp>
        <p:nvSpPr>
          <p:cNvPr id="36" name="Shape 29"/>
          <p:cNvSpPr/>
          <p:nvPr/>
        </p:nvSpPr>
        <p:spPr>
          <a:xfrm>
            <a:off x="8953276" y="3812877"/>
            <a:ext cx="2628834" cy="1099741"/>
          </a:xfrm>
          <a:prstGeom prst="rect">
            <a:avLst/>
          </a:prstGeom>
          <a:solidFill>
            <a:srgbClr val="FFF0E6"/>
          </a:solidFill>
          <a:ln/>
        </p:spPr>
      </p:sp>
      <p:sp>
        <p:nvSpPr>
          <p:cNvPr id="37" name="Shape 30"/>
          <p:cNvSpPr/>
          <p:nvPr/>
        </p:nvSpPr>
        <p:spPr>
          <a:xfrm>
            <a:off x="9181870" y="4041477"/>
            <a:ext cx="311142" cy="311150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9236042" y="4108152"/>
            <a:ext cx="8122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9181870" y="4352627"/>
            <a:ext cx="2171646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Rescheduling</a:t>
            </a:r>
            <a:endParaRPr lang="en-US" sz="1800" dirty="0"/>
          </a:p>
        </p:txBody>
      </p:sp>
      <p:sp>
        <p:nvSpPr>
          <p:cNvPr id="40" name="Text 33"/>
          <p:cNvSpPr/>
          <p:nvPr/>
        </p:nvSpPr>
        <p:spPr>
          <a:xfrm>
            <a:off x="609585" y="5452368"/>
            <a:ext cx="11582110" cy="63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challenge is making the right scheduling decision under multiple constraints.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11512758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2</a:t>
            </a:r>
            <a:endParaRPr lang="en-US" sz="1000" dirty="0"/>
          </a:p>
        </p:txBody>
      </p:sp>
      <p:pic>
        <p:nvPicPr>
          <p:cNvPr id="43" name="Picture 42" descr="White Screen Online - Fullscreen White Screen Test &amp; Bright ...">
            <a:extLst>
              <a:ext uri="{FF2B5EF4-FFF2-40B4-BE49-F238E27FC236}">
                <a16:creationId xmlns:a16="http://schemas.microsoft.com/office/drawing/2014/main" id="{4369452B-9373-4063-9354-81B7175A47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3186" y="6180739"/>
            <a:ext cx="1158510" cy="6163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585" y="520501"/>
            <a:ext cx="10972526" cy="648891"/>
          </a:xfrm>
          <a:prstGeom prst="rect">
            <a:avLst/>
          </a:prstGeom>
          <a:noFill/>
          <a:ln/>
        </p:spPr>
        <p:txBody>
          <a:bodyPr wrap="none" lIns="0" tIns="70220" rIns="0" bIns="702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Our Approach: Algorithm-Driven Scheduling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09585" y="1182489"/>
            <a:ext cx="10972526" cy="648891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5" name="Shape 3"/>
          <p:cNvSpPr/>
          <p:nvPr/>
        </p:nvSpPr>
        <p:spPr>
          <a:xfrm>
            <a:off x="838179" y="1411089"/>
            <a:ext cx="191686" cy="191691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1813" y="1452265"/>
            <a:ext cx="734002" cy="109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9003" y="1452265"/>
            <a:ext cx="10443107" cy="11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Patient input:</a:t>
            </a:r>
            <a:r>
              <a:rPr lang="en-US" sz="85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Details, priority, department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9585" y="1983780"/>
            <a:ext cx="10972526" cy="648891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9" name="Shape 7"/>
          <p:cNvSpPr/>
          <p:nvPr/>
        </p:nvSpPr>
        <p:spPr>
          <a:xfrm>
            <a:off x="838179" y="2212380"/>
            <a:ext cx="191686" cy="191691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1813" y="2253555"/>
            <a:ext cx="734002" cy="109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39003" y="2253555"/>
            <a:ext cx="10443107" cy="11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Sort records:</a:t>
            </a:r>
            <a:r>
              <a:rPr lang="en-US" sz="85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Organize patients efficiently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9585" y="2785070"/>
            <a:ext cx="10972526" cy="648891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13" name="Shape 11"/>
          <p:cNvSpPr/>
          <p:nvPr/>
        </p:nvSpPr>
        <p:spPr>
          <a:xfrm>
            <a:off x="838179" y="3013670"/>
            <a:ext cx="191686" cy="191691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1813" y="3054846"/>
            <a:ext cx="734002" cy="109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9003" y="3054846"/>
            <a:ext cx="10443107" cy="11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Priority queue:</a:t>
            </a:r>
            <a:r>
              <a:rPr lang="en-US" sz="85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Select the next highest-priority patient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9585" y="3586361"/>
            <a:ext cx="10972526" cy="648891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17" name="Shape 15"/>
          <p:cNvSpPr/>
          <p:nvPr/>
        </p:nvSpPr>
        <p:spPr>
          <a:xfrm>
            <a:off x="838179" y="3814961"/>
            <a:ext cx="191686" cy="191691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1813" y="3856137"/>
            <a:ext cx="734002" cy="109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39003" y="3856137"/>
            <a:ext cx="10443107" cy="11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Check doctors:</a:t>
            </a:r>
            <a:r>
              <a:rPr lang="en-US" sz="85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Find compatible available doctors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9585" y="4387652"/>
            <a:ext cx="10972526" cy="648891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21" name="Shape 19"/>
          <p:cNvSpPr/>
          <p:nvPr/>
        </p:nvSpPr>
        <p:spPr>
          <a:xfrm>
            <a:off x="838179" y="4616252"/>
            <a:ext cx="191686" cy="191691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1813" y="4657427"/>
            <a:ext cx="734002" cy="109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39003" y="4657427"/>
            <a:ext cx="10443107" cy="11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Check slots:</a:t>
            </a:r>
            <a:r>
              <a:rPr lang="en-US" sz="85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Find feasible appointment times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9585" y="5188942"/>
            <a:ext cx="10972526" cy="648891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25" name="Shape 23"/>
          <p:cNvSpPr/>
          <p:nvPr/>
        </p:nvSpPr>
        <p:spPr>
          <a:xfrm>
            <a:off x="838179" y="5417542"/>
            <a:ext cx="191686" cy="191691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1813" y="5458718"/>
            <a:ext cx="734002" cy="109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39003" y="5458718"/>
            <a:ext cx="10443107" cy="11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Greedy allocation:</a:t>
            </a:r>
            <a:r>
              <a:rPr lang="en-US" sz="85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Choose the best currently feasible option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9584" y="5990233"/>
            <a:ext cx="11484650" cy="790129"/>
          </a:xfrm>
          <a:prstGeom prst="rect">
            <a:avLst/>
          </a:prstGeom>
          <a:solidFill>
            <a:srgbClr val="DFF3EA"/>
          </a:solidFill>
          <a:ln/>
        </p:spPr>
      </p:sp>
      <p:sp>
        <p:nvSpPr>
          <p:cNvPr id="29" name="Shape 27"/>
          <p:cNvSpPr/>
          <p:nvPr/>
        </p:nvSpPr>
        <p:spPr>
          <a:xfrm>
            <a:off x="838179" y="6218833"/>
            <a:ext cx="191686" cy="191691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1813" y="6260009"/>
            <a:ext cx="734002" cy="109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07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39003" y="6260009"/>
            <a:ext cx="10443107" cy="11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Final schedule:</a:t>
            </a:r>
            <a:r>
              <a:rPr lang="en-US" sz="85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Generate explainable assignments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512758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585" y="540744"/>
            <a:ext cx="10972526" cy="1002206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3 DAA Concepts Behind the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565176"/>
            <a:ext cx="3555911" cy="2894211"/>
          </a:xfrm>
          <a:prstGeom prst="rect">
            <a:avLst/>
          </a:prstGeom>
          <a:solidFill>
            <a:srgbClr val="E8F0F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1793776"/>
            <a:ext cx="355591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2165251"/>
            <a:ext cx="3098722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Sorting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38179" y="2631976"/>
            <a:ext cx="3098722" cy="1358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Organize records for ranking, searching, and scheduling order.</a:t>
            </a:r>
            <a:endParaRPr lang="en-US" sz="1400" dirty="0"/>
          </a:p>
          <a:p>
            <a:pPr marL="0" indent="0" algn="l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Example:</a:t>
            </a: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Emergency → Critical → High → Normal → Low.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Complexity: O(n log n)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17892" y="1565176"/>
            <a:ext cx="3555911" cy="2894211"/>
          </a:xfrm>
          <a:prstGeom prst="rect">
            <a:avLst/>
          </a:prstGeom>
          <a:solidFill>
            <a:srgbClr val="E8F0F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486" y="1793776"/>
            <a:ext cx="355591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46486" y="2165251"/>
            <a:ext cx="3098722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Priority Queue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546486" y="2631976"/>
            <a:ext cx="3098722" cy="1358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Heap-based selection of the highest-priority patient.</a:t>
            </a:r>
            <a:endParaRPr lang="en-US" sz="1400" dirty="0"/>
          </a:p>
          <a:p>
            <a:pPr marL="0" indent="0" algn="l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Insert:</a:t>
            </a: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O(log n) · </a:t>
            </a:r>
            <a:r>
              <a:rPr lang="en-US" sz="14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Remove:</a:t>
            </a: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O(log n) · </a:t>
            </a:r>
            <a:r>
              <a:rPr lang="en-US" sz="14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Peek:</a:t>
            </a: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O(1)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Emergency patients rise to the top.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026199" y="1565176"/>
            <a:ext cx="3555911" cy="2894211"/>
          </a:xfrm>
          <a:prstGeom prst="rect">
            <a:avLst/>
          </a:prstGeom>
          <a:solidFill>
            <a:srgbClr val="E8F0F4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4793" y="1793776"/>
            <a:ext cx="355591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4793" y="2165251"/>
            <a:ext cx="3098722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Greedy Strategy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54793" y="2631976"/>
            <a:ext cx="3098722" cy="1598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Choose the best currently feasible option.</a:t>
            </a:r>
            <a:endParaRPr lang="en-US" sz="1400" dirty="0"/>
          </a:p>
          <a:p>
            <a:pPr marL="0" indent="0" algn="l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Highest priority + compatible doctor + best available slot.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Locally best, not globally optimal by guarantee.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9585" y="4713387"/>
            <a:ext cx="3555911" cy="731441"/>
          </a:xfrm>
          <a:prstGeom prst="rect">
            <a:avLst/>
          </a:prstGeom>
          <a:solidFill>
            <a:srgbClr val="DFF3EA"/>
          </a:solidFill>
          <a:ln/>
        </p:spPr>
      </p:sp>
      <p:sp>
        <p:nvSpPr>
          <p:cNvPr id="17" name="Text 12"/>
          <p:cNvSpPr/>
          <p:nvPr/>
        </p:nvSpPr>
        <p:spPr>
          <a:xfrm>
            <a:off x="838179" y="4884837"/>
            <a:ext cx="3098722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Sorting: organize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4317892" y="4713387"/>
            <a:ext cx="3555911" cy="731441"/>
          </a:xfrm>
          <a:prstGeom prst="rect">
            <a:avLst/>
          </a:prstGeom>
          <a:solidFill>
            <a:srgbClr val="DFF3EA"/>
          </a:solidFill>
          <a:ln/>
        </p:spPr>
      </p:sp>
      <p:sp>
        <p:nvSpPr>
          <p:cNvPr id="19" name="Text 14"/>
          <p:cNvSpPr/>
          <p:nvPr/>
        </p:nvSpPr>
        <p:spPr>
          <a:xfrm>
            <a:off x="4546437" y="4884837"/>
            <a:ext cx="3098722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Priority Queue: who next?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8026199" y="4713387"/>
            <a:ext cx="3555911" cy="731441"/>
          </a:xfrm>
          <a:prstGeom prst="rect">
            <a:avLst/>
          </a:prstGeom>
          <a:solidFill>
            <a:srgbClr val="DFF3EA"/>
          </a:solidFill>
          <a:ln/>
        </p:spPr>
      </p:sp>
      <p:sp>
        <p:nvSpPr>
          <p:cNvPr id="21" name="Text 16"/>
          <p:cNvSpPr/>
          <p:nvPr/>
        </p:nvSpPr>
        <p:spPr>
          <a:xfrm>
            <a:off x="8254744" y="4884837"/>
            <a:ext cx="3098722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Greedy: where and when?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1512758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4</a:t>
            </a:r>
            <a:endParaRPr lang="en-US" sz="1000" dirty="0"/>
          </a:p>
        </p:txBody>
      </p:sp>
      <p:pic>
        <p:nvPicPr>
          <p:cNvPr id="24" name="Picture 23" descr="White Screen Online - Fullscreen White Screen Test &amp; Bright ...">
            <a:extLst>
              <a:ext uri="{FF2B5EF4-FFF2-40B4-BE49-F238E27FC236}">
                <a16:creationId xmlns:a16="http://schemas.microsoft.com/office/drawing/2014/main" id="{4DE1174B-7FD8-CFC3-B652-864A1C53BB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9724" y="6038490"/>
            <a:ext cx="1312275" cy="8160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585" y="474453"/>
            <a:ext cx="10972526" cy="1068497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From Algorithm to Real Hospital Workflow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1565176"/>
            <a:ext cx="2072628" cy="2449612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5" name="Shape 3"/>
          <p:cNvSpPr/>
          <p:nvPr/>
        </p:nvSpPr>
        <p:spPr>
          <a:xfrm>
            <a:off x="838179" y="1793776"/>
            <a:ext cx="546086" cy="546100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876" y="1933476"/>
            <a:ext cx="266693" cy="266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2362101"/>
            <a:ext cx="1615439" cy="662781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Emergency insertion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38179" y="3066157"/>
            <a:ext cx="1615439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Add urgent patients to the active process.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834510" y="1565176"/>
            <a:ext cx="2072628" cy="2449612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10" name="Shape 7"/>
          <p:cNvSpPr/>
          <p:nvPr/>
        </p:nvSpPr>
        <p:spPr>
          <a:xfrm>
            <a:off x="3063104" y="1793776"/>
            <a:ext cx="546086" cy="546100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2800" y="1933476"/>
            <a:ext cx="266693" cy="2667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63104" y="2362101"/>
            <a:ext cx="1615439" cy="662781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Dynamic rescheduling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063104" y="3066157"/>
            <a:ext cx="1615439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Update appointments when availability changes.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059434" y="1565176"/>
            <a:ext cx="2072727" cy="2449612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15" name="Shape 11"/>
          <p:cNvSpPr/>
          <p:nvPr/>
        </p:nvSpPr>
        <p:spPr>
          <a:xfrm>
            <a:off x="5288029" y="1793776"/>
            <a:ext cx="546086" cy="546100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7725" y="1933476"/>
            <a:ext cx="266693" cy="2667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88029" y="2362101"/>
            <a:ext cx="1615538" cy="662781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Cancellation / no-show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5288029" y="3066157"/>
            <a:ext cx="1615538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Identify newly available slots.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284458" y="1565176"/>
            <a:ext cx="2072628" cy="2449612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20" name="Shape 15"/>
          <p:cNvSpPr/>
          <p:nvPr/>
        </p:nvSpPr>
        <p:spPr>
          <a:xfrm>
            <a:off x="7513053" y="1793776"/>
            <a:ext cx="546086" cy="546100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2749" y="1933476"/>
            <a:ext cx="266693" cy="2667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13053" y="2362101"/>
            <a:ext cx="1615439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Waitlist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513053" y="2791916"/>
            <a:ext cx="1615439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Find eligible patients waiting.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9509383" y="1565176"/>
            <a:ext cx="2072727" cy="2449612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25" name="Shape 19"/>
          <p:cNvSpPr/>
          <p:nvPr/>
        </p:nvSpPr>
        <p:spPr>
          <a:xfrm>
            <a:off x="9737977" y="1793776"/>
            <a:ext cx="546086" cy="546100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7674" y="1933476"/>
            <a:ext cx="266693" cy="2667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37977" y="2362101"/>
            <a:ext cx="1615538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Analytics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9737977" y="2791916"/>
            <a:ext cx="1615538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Track waiting time, conflicts, and utilization.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609585" y="4268788"/>
            <a:ext cx="2072628" cy="1824137"/>
          </a:xfrm>
          <a:prstGeom prst="rect">
            <a:avLst/>
          </a:prstGeom>
          <a:solidFill>
            <a:srgbClr val="DFF3EA"/>
          </a:solidFill>
          <a:ln/>
        </p:spPr>
      </p:sp>
      <p:sp>
        <p:nvSpPr>
          <p:cNvPr id="30" name="Text 23"/>
          <p:cNvSpPr/>
          <p:nvPr/>
        </p:nvSpPr>
        <p:spPr>
          <a:xfrm>
            <a:off x="838179" y="4440238"/>
            <a:ext cx="1615439" cy="662781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Average Waiting Time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838179" y="5144294"/>
            <a:ext cx="1615439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Metric from the actual scheduling run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2834510" y="4268788"/>
            <a:ext cx="2072628" cy="1824137"/>
          </a:xfrm>
          <a:prstGeom prst="rect">
            <a:avLst/>
          </a:prstGeom>
          <a:solidFill>
            <a:srgbClr val="DFF3EA"/>
          </a:solidFill>
          <a:ln/>
        </p:spPr>
      </p:sp>
      <p:sp>
        <p:nvSpPr>
          <p:cNvPr id="33" name="Text 26"/>
          <p:cNvSpPr/>
          <p:nvPr/>
        </p:nvSpPr>
        <p:spPr>
          <a:xfrm>
            <a:off x="3063104" y="4440238"/>
            <a:ext cx="1615439" cy="662781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Scheduled Patients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3063104" y="5144294"/>
            <a:ext cx="1615439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Metric from the actual scheduling run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5059434" y="4268788"/>
            <a:ext cx="2072727" cy="1824137"/>
          </a:xfrm>
          <a:prstGeom prst="rect">
            <a:avLst/>
          </a:prstGeom>
          <a:solidFill>
            <a:srgbClr val="DFF3EA"/>
          </a:solidFill>
          <a:ln/>
        </p:spPr>
      </p:sp>
      <p:sp>
        <p:nvSpPr>
          <p:cNvPr id="36" name="Text 29"/>
          <p:cNvSpPr/>
          <p:nvPr/>
        </p:nvSpPr>
        <p:spPr>
          <a:xfrm>
            <a:off x="5288029" y="4440238"/>
            <a:ext cx="1615538" cy="662781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Unscheduled Patients</a:t>
            </a:r>
            <a:endParaRPr lang="en-US" sz="1800" dirty="0"/>
          </a:p>
        </p:txBody>
      </p:sp>
      <p:sp>
        <p:nvSpPr>
          <p:cNvPr id="37" name="Text 30"/>
          <p:cNvSpPr/>
          <p:nvPr/>
        </p:nvSpPr>
        <p:spPr>
          <a:xfrm>
            <a:off x="5288029" y="5144294"/>
            <a:ext cx="1615538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Metric from the actual scheduling run</a:t>
            </a:r>
            <a:endParaRPr lang="en-US" sz="1400" dirty="0"/>
          </a:p>
        </p:txBody>
      </p:sp>
      <p:sp>
        <p:nvSpPr>
          <p:cNvPr id="38" name="Shape 31"/>
          <p:cNvSpPr/>
          <p:nvPr/>
        </p:nvSpPr>
        <p:spPr>
          <a:xfrm>
            <a:off x="7284458" y="4268788"/>
            <a:ext cx="2072628" cy="1824137"/>
          </a:xfrm>
          <a:prstGeom prst="rect">
            <a:avLst/>
          </a:prstGeom>
          <a:solidFill>
            <a:srgbClr val="DFF3EA"/>
          </a:solidFill>
          <a:ln/>
        </p:spPr>
      </p:sp>
      <p:sp>
        <p:nvSpPr>
          <p:cNvPr id="39" name="Text 32"/>
          <p:cNvSpPr/>
          <p:nvPr/>
        </p:nvSpPr>
        <p:spPr>
          <a:xfrm>
            <a:off x="7513053" y="4440238"/>
            <a:ext cx="1615439" cy="662781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Doctor Slot Utilization</a:t>
            </a:r>
            <a:endParaRPr lang="en-US" sz="1800" dirty="0"/>
          </a:p>
        </p:txBody>
      </p:sp>
      <p:sp>
        <p:nvSpPr>
          <p:cNvPr id="40" name="Text 33"/>
          <p:cNvSpPr/>
          <p:nvPr/>
        </p:nvSpPr>
        <p:spPr>
          <a:xfrm>
            <a:off x="7513053" y="5144294"/>
            <a:ext cx="1615439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Metric from the actual scheduling run</a:t>
            </a:r>
            <a:endParaRPr lang="en-US" sz="1400" dirty="0"/>
          </a:p>
        </p:txBody>
      </p:sp>
      <p:sp>
        <p:nvSpPr>
          <p:cNvPr id="41" name="Shape 34"/>
          <p:cNvSpPr/>
          <p:nvPr/>
        </p:nvSpPr>
        <p:spPr>
          <a:xfrm>
            <a:off x="9509382" y="4190950"/>
            <a:ext cx="2072727" cy="1824137"/>
          </a:xfrm>
          <a:prstGeom prst="rect">
            <a:avLst/>
          </a:prstGeom>
          <a:solidFill>
            <a:srgbClr val="DFF3EA"/>
          </a:solidFill>
          <a:ln/>
        </p:spPr>
      </p:sp>
      <p:sp>
        <p:nvSpPr>
          <p:cNvPr id="42" name="Text 35"/>
          <p:cNvSpPr/>
          <p:nvPr/>
        </p:nvSpPr>
        <p:spPr>
          <a:xfrm>
            <a:off x="9737977" y="4440238"/>
            <a:ext cx="1615538" cy="662781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Scheduling Conflicts</a:t>
            </a:r>
            <a:endParaRPr lang="en-US" sz="1800" dirty="0"/>
          </a:p>
        </p:txBody>
      </p:sp>
      <p:sp>
        <p:nvSpPr>
          <p:cNvPr id="43" name="Text 36"/>
          <p:cNvSpPr/>
          <p:nvPr/>
        </p:nvSpPr>
        <p:spPr>
          <a:xfrm>
            <a:off x="9737977" y="5144294"/>
            <a:ext cx="1615538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Metric from the actual scheduling run</a:t>
            </a:r>
            <a:endParaRPr lang="en-US" sz="1400" dirty="0"/>
          </a:p>
        </p:txBody>
      </p:sp>
      <p:sp>
        <p:nvSpPr>
          <p:cNvPr id="45" name="Text 38"/>
          <p:cNvSpPr/>
          <p:nvPr/>
        </p:nvSpPr>
        <p:spPr>
          <a:xfrm>
            <a:off x="11512758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6</a:t>
            </a:r>
            <a:endParaRPr lang="en-US" sz="1000" dirty="0"/>
          </a:p>
        </p:txBody>
      </p:sp>
      <p:pic>
        <p:nvPicPr>
          <p:cNvPr id="51" name="Picture 50" descr="White tint Images - Free Download on Magnific (formerly Freepik)">
            <a:extLst>
              <a:ext uri="{FF2B5EF4-FFF2-40B4-BE49-F238E27FC236}">
                <a16:creationId xmlns:a16="http://schemas.microsoft.com/office/drawing/2014/main" id="{0609F23E-6E13-322E-773F-94D0A3AD0F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85318" y="6320805"/>
            <a:ext cx="1536393" cy="4647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5DFAC-CD88-DAD1-D554-68654E839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6AF50BD-79E5-4D2C-C619-F8C9F7AECE52}"/>
              </a:ext>
            </a:extLst>
          </p:cNvPr>
          <p:cNvSpPr/>
          <p:nvPr/>
        </p:nvSpPr>
        <p:spPr>
          <a:xfrm>
            <a:off x="609585" y="520600"/>
            <a:ext cx="10972526" cy="102235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How One Appointment Is Selected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92571BB-ECE0-4D93-735E-324F9CE048E7}"/>
              </a:ext>
            </a:extLst>
          </p:cNvPr>
          <p:cNvSpPr/>
          <p:nvPr/>
        </p:nvSpPr>
        <p:spPr>
          <a:xfrm>
            <a:off x="609585" y="1565176"/>
            <a:ext cx="3246059" cy="3829546"/>
          </a:xfrm>
          <a:prstGeom prst="rect">
            <a:avLst/>
          </a:prstGeom>
          <a:solidFill>
            <a:srgbClr val="FFF0E6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97C6903-5AEA-A4E6-F2E5-9C9645DB5A25}"/>
              </a:ext>
            </a:extLst>
          </p:cNvPr>
          <p:cNvSpPr/>
          <p:nvPr/>
        </p:nvSpPr>
        <p:spPr>
          <a:xfrm>
            <a:off x="838179" y="1641376"/>
            <a:ext cx="2788870" cy="914400"/>
          </a:xfrm>
          <a:prstGeom prst="rect">
            <a:avLst/>
          </a:prstGeom>
          <a:noFill/>
          <a:ln/>
        </p:spPr>
        <p:txBody>
          <a:bodyPr wrap="none" lIns="0" tIns="152396" rIns="0" bIns="152396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dirty="0">
                <a:solidFill>
                  <a:srgbClr val="C94B4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P104</a:t>
            </a:r>
            <a:endParaRPr lang="en-US" sz="4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ACF89C3-1D4E-A3D0-0E8D-91BB3ACD28B8}"/>
              </a:ext>
            </a:extLst>
          </p:cNvPr>
          <p:cNvSpPr/>
          <p:nvPr/>
        </p:nvSpPr>
        <p:spPr>
          <a:xfrm>
            <a:off x="838179" y="2425601"/>
            <a:ext cx="2788870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EMERGENCY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109235C-5D4A-9CE3-5E23-BB18E359F3CB}"/>
              </a:ext>
            </a:extLst>
          </p:cNvPr>
          <p:cNvSpPr/>
          <p:nvPr/>
        </p:nvSpPr>
        <p:spPr>
          <a:xfrm>
            <a:off x="838179" y="2855416"/>
            <a:ext cx="2788870" cy="55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Cardiology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Preferred time: 10:00 AM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551A058-EC77-5559-1778-8642FC124BD0}"/>
              </a:ext>
            </a:extLst>
          </p:cNvPr>
          <p:cNvSpPr/>
          <p:nvPr/>
        </p:nvSpPr>
        <p:spPr>
          <a:xfrm>
            <a:off x="4007940" y="1730276"/>
            <a:ext cx="7574170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Priority queue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CB9AFA0-2DF2-B01E-BDB5-430458DAF109}"/>
              </a:ext>
            </a:extLst>
          </p:cNvPr>
          <p:cNvSpPr/>
          <p:nvPr/>
        </p:nvSpPr>
        <p:spPr>
          <a:xfrm>
            <a:off x="4007940" y="2197001"/>
            <a:ext cx="757417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P104 moves to the top because of emergency priority.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C85B522-2370-F247-9E8C-8F7FACAE5B2F}"/>
              </a:ext>
            </a:extLst>
          </p:cNvPr>
          <p:cNvSpPr/>
          <p:nvPr/>
        </p:nvSpPr>
        <p:spPr>
          <a:xfrm>
            <a:off x="4007940" y="2500511"/>
            <a:ext cx="7574170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Compatible doctors</a:t>
            </a:r>
            <a:endParaRPr lang="en-US" sz="2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81D4C0E-4B8E-6FEA-FCEE-95459A3127CF}"/>
              </a:ext>
            </a:extLst>
          </p:cNvPr>
          <p:cNvSpPr/>
          <p:nvPr/>
        </p:nvSpPr>
        <p:spPr>
          <a:xfrm>
            <a:off x="4007940" y="2967236"/>
            <a:ext cx="2423060" cy="1309886"/>
          </a:xfrm>
          <a:prstGeom prst="rect">
            <a:avLst/>
          </a:prstGeom>
          <a:solidFill>
            <a:srgbClr val="FDE8E6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B16A3B8-61BB-36E7-C99F-700951AC3C6C}"/>
              </a:ext>
            </a:extLst>
          </p:cNvPr>
          <p:cNvSpPr/>
          <p:nvPr/>
        </p:nvSpPr>
        <p:spPr>
          <a:xfrm>
            <a:off x="4236535" y="3138686"/>
            <a:ext cx="1965871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Dr. Rao</a:t>
            </a:r>
            <a:endParaRPr lang="en-US" sz="18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7D99586-7EED-9E28-66FB-5D74FB403DC7}"/>
              </a:ext>
            </a:extLst>
          </p:cNvPr>
          <p:cNvSpPr/>
          <p:nvPr/>
        </p:nvSpPr>
        <p:spPr>
          <a:xfrm>
            <a:off x="4236535" y="3568502"/>
            <a:ext cx="1965871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9:30 AM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Unavailable</a:t>
            </a:r>
            <a:endParaRPr lang="en-US" sz="1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1D6191B-0DC2-813E-55C2-791461B51D73}"/>
              </a:ext>
            </a:extLst>
          </p:cNvPr>
          <p:cNvSpPr/>
          <p:nvPr/>
        </p:nvSpPr>
        <p:spPr>
          <a:xfrm>
            <a:off x="6583396" y="2967236"/>
            <a:ext cx="2423159" cy="1309886"/>
          </a:xfrm>
          <a:prstGeom prst="rect">
            <a:avLst/>
          </a:prstGeom>
          <a:solidFill>
            <a:srgbClr val="DFF3EA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0E17F69-ACB4-CDD3-5041-EFD300B7DC09}"/>
              </a:ext>
            </a:extLst>
          </p:cNvPr>
          <p:cNvSpPr/>
          <p:nvPr/>
        </p:nvSpPr>
        <p:spPr>
          <a:xfrm>
            <a:off x="6811991" y="3138686"/>
            <a:ext cx="1965970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Dr. Mehta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15C731D-3E17-194E-3914-7295A4E6153D}"/>
              </a:ext>
            </a:extLst>
          </p:cNvPr>
          <p:cNvSpPr/>
          <p:nvPr/>
        </p:nvSpPr>
        <p:spPr>
          <a:xfrm>
            <a:off x="6811991" y="3568502"/>
            <a:ext cx="196597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10:00 AM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Available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4974119-8CBB-BB67-0A60-8EB9A1A1A345}"/>
              </a:ext>
            </a:extLst>
          </p:cNvPr>
          <p:cNvSpPr/>
          <p:nvPr/>
        </p:nvSpPr>
        <p:spPr>
          <a:xfrm>
            <a:off x="9158951" y="2967236"/>
            <a:ext cx="2423060" cy="1309886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D1A550C-782F-8DA0-0F34-85F3FD959C3F}"/>
              </a:ext>
            </a:extLst>
          </p:cNvPr>
          <p:cNvSpPr/>
          <p:nvPr/>
        </p:nvSpPr>
        <p:spPr>
          <a:xfrm>
            <a:off x="9387546" y="3138686"/>
            <a:ext cx="1965871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Dr. Kumar</a:t>
            </a:r>
            <a:endParaRPr lang="en-US" sz="1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1D0A14B-016C-2319-FFFE-97A3DFCA75D9}"/>
              </a:ext>
            </a:extLst>
          </p:cNvPr>
          <p:cNvSpPr/>
          <p:nvPr/>
        </p:nvSpPr>
        <p:spPr>
          <a:xfrm>
            <a:off x="9387546" y="3568502"/>
            <a:ext cx="1965871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11:00 AM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Available</a:t>
            </a:r>
            <a:endParaRPr lang="en-US" sz="1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4B0D95D-8734-7242-79CA-0D30388E685D}"/>
              </a:ext>
            </a:extLst>
          </p:cNvPr>
          <p:cNvSpPr/>
          <p:nvPr/>
        </p:nvSpPr>
        <p:spPr>
          <a:xfrm>
            <a:off x="4007940" y="4404122"/>
            <a:ext cx="7574170" cy="762000"/>
          </a:xfrm>
          <a:prstGeom prst="rect">
            <a:avLst/>
          </a:prstGeom>
          <a:solidFill>
            <a:srgbClr val="DFF3EA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F91FA62-4F40-BDA7-33E4-B7F127359D5F}"/>
              </a:ext>
            </a:extLst>
          </p:cNvPr>
          <p:cNvSpPr/>
          <p:nvPr/>
        </p:nvSpPr>
        <p:spPr>
          <a:xfrm>
            <a:off x="4236535" y="4569222"/>
            <a:ext cx="7116981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2E9B6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Greedy selection: Dr. Mehta — 10:00 AM</a:t>
            </a:r>
            <a:endParaRPr lang="en-US" sz="2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30E754D-F77B-B68F-52DA-C2A32E8CF404}"/>
              </a:ext>
            </a:extLst>
          </p:cNvPr>
          <p:cNvSpPr/>
          <p:nvPr/>
        </p:nvSpPr>
        <p:spPr>
          <a:xfrm>
            <a:off x="609585" y="5572522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Why selected?</a:t>
            </a: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Emergency priority · correct department · doctor available · patient-compatible slot · best feasible current option</a:t>
            </a:r>
            <a:endParaRPr lang="en-US" sz="1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E614F88-7CB9-6F9C-68B8-6EC7499A458F}"/>
              </a:ext>
            </a:extLst>
          </p:cNvPr>
          <p:cNvSpPr/>
          <p:nvPr/>
        </p:nvSpPr>
        <p:spPr>
          <a:xfrm>
            <a:off x="11512758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72330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25682" y="646982"/>
            <a:ext cx="7062817" cy="3851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              Sorting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                   ↓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       Priority Queue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                   ↓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      Greedy Allocation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                   ↓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Explainable Final Schedule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780" y="3692106"/>
            <a:ext cx="10566136" cy="2437132"/>
          </a:xfrm>
          <a:prstGeom prst="rect">
            <a:avLst/>
          </a:prstGeom>
          <a:noFill/>
          <a:ln/>
        </p:spPr>
        <p:txBody>
          <a:bodyPr wrap="none" lIns="0" tIns="95248" rIns="0" bIns="95248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THANK 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468</Words>
  <Application>Microsoft Office PowerPoint</Application>
  <PresentationFormat>Widescreen</PresentationFormat>
  <Paragraphs>120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Heebo Light</vt:lpstr>
      <vt:lpstr>Heebo Bold</vt:lpstr>
      <vt:lpstr>Arial Rounded MT Bold</vt:lpstr>
      <vt:lpstr>Inter Tight</vt:lpstr>
      <vt:lpstr>Arial</vt:lpstr>
      <vt:lpstr>Bahnschrift SemiLight</vt:lpstr>
      <vt:lpstr>Heebo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HP</cp:lastModifiedBy>
  <cp:revision>2</cp:revision>
  <dcterms:created xsi:type="dcterms:W3CDTF">2026-10-03T06:17:41Z</dcterms:created>
  <dcterms:modified xsi:type="dcterms:W3CDTF">2026-10-03T08:14:39Z</dcterms:modified>
</cp:coreProperties>
</file>